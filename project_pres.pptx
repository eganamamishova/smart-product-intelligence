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Model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(Baseline)</c:v>
                </c:pt>
              </c:strCache>
            </c:strRef>
          </c:tx>
          <c:spPr>
            <a:solidFill>
              <a:srgbClr val="7B2CBF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Test Accuracy</c:v>
                </c:pt>
                <c:pt idx="1">
                  <c:v>Macro F1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39.21</c:v>
                </c:pt>
                <c:pt idx="1">
                  <c:v>37.94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66F-4B8A-9BE0-5B387494F9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Keras MLP</c:v>
                </c:pt>
              </c:strCache>
            </c:strRef>
          </c:tx>
          <c:spPr>
            <a:solidFill>
              <a:srgbClr val="DC1464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Test Accuracy</c:v>
                </c:pt>
                <c:pt idx="1">
                  <c:v>Macro F1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44.63</c:v>
                </c:pt>
                <c:pt idx="1">
                  <c:v>40.83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66F-4B8A-9BE0-5B387494F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Sentiment Classification Results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7B2CBF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TF-IDF + LR</c:v>
                </c:pt>
                <c:pt idx="1">
                  <c:v>Keras Embeddings</c:v>
                </c:pt>
                <c:pt idx="2">
                  <c:v>DistilBERT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88.64</c:v>
                </c:pt>
                <c:pt idx="1">
                  <c:v>93.36</c:v>
                </c:pt>
                <c:pt idx="2">
                  <c:v>96.76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67-4D79-8E18-744AEDFF74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× 100</c:v>
                </c:pt>
              </c:strCache>
            </c:strRef>
          </c:tx>
          <c:spPr>
            <a:solidFill>
              <a:srgbClr val="DC146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TF-IDF + LR</c:v>
                </c:pt>
                <c:pt idx="1">
                  <c:v>Keras Embeddings</c:v>
                </c:pt>
                <c:pt idx="2">
                  <c:v>DistilBERT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85.23</c:v>
                </c:pt>
                <c:pt idx="1">
                  <c:v>90.44</c:v>
                </c:pt>
                <c:pt idx="2">
                  <c:v>95.29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067-4D79-8E18-744AEDFF74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4402393249230944"/>
          <c:y val="0.1183847331583552"/>
          <c:w val="0.31162122879801313"/>
          <c:h val="0.19274442257217847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Accuracy Comparison — Our Models vs. Baselines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(%)</c:v>
                </c:pt>
              </c:strCache>
            </c:strRef>
          </c:tx>
          <c:spPr>
            <a:solidFill>
              <a:srgbClr val="7B2CBF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M1: MLP
vs. Baseline</c:v>
                </c:pt>
                <c:pt idx="1">
                  <c:v>M3: Embeddings
vs. TF-IDF</c:v>
                </c:pt>
                <c:pt idx="2">
                  <c:v>M4: DistilBERT
vs. Baseline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39.21</c:v>
                </c:pt>
                <c:pt idx="1">
                  <c:v>88.64</c:v>
                </c:pt>
                <c:pt idx="2">
                  <c:v>88.64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2A-4242-86BF-5B193B908A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Model (%)</c:v>
                </c:pt>
              </c:strCache>
            </c:strRef>
          </c:tx>
          <c:spPr>
            <a:solidFill>
              <a:srgbClr val="DC146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M1: MLP
vs. Baseline</c:v>
                </c:pt>
                <c:pt idx="1">
                  <c:v>M3: Embeddings
vs. TF-IDF</c:v>
                </c:pt>
                <c:pt idx="2">
                  <c:v>M4: DistilBERT
vs. Baseline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44.63</c:v>
                </c:pt>
                <c:pt idx="1">
                  <c:v>93.36</c:v>
                </c:pt>
                <c:pt idx="2">
                  <c:v>96.76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52A-4242-86BF-5B193B908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13.06.2026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46888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FFFFFF"/>
                </a:solidFill>
              </a:rPr>
              <a:t>  Smart Product Intelligence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</a:rPr>
              <a:t>An End-to-End Deep Learning Pipeline for E-Commerce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727" y="2923625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 dirty="0">
                <a:solidFill>
                  <a:srgbClr val="C8B9FF"/>
                </a:solidFill>
              </a:rPr>
              <a:t>Khazar University  ·  </a:t>
            </a:r>
            <a:r>
              <a:rPr lang="en-US" sz="1350" b="0" i="1" dirty="0">
                <a:solidFill>
                  <a:srgbClr val="C8B9FF"/>
                </a:solidFill>
              </a:rPr>
              <a:t>Neural Networks B </a:t>
            </a:r>
            <a:r>
              <a:rPr sz="1350" b="0" i="1" dirty="0">
                <a:solidFill>
                  <a:srgbClr val="C8B9FF"/>
                </a:solidFill>
              </a:rPr>
              <a:t>· </a:t>
            </a:r>
            <a:r>
              <a:rPr lang="en-US" sz="1350" b="0" i="1" dirty="0">
                <a:solidFill>
                  <a:srgbClr val="C8B9FF"/>
                </a:solidFill>
              </a:rPr>
              <a:t>13</a:t>
            </a:r>
            <a:r>
              <a:rPr sz="1350" b="0" i="1" dirty="0">
                <a:solidFill>
                  <a:srgbClr val="C8B9FF"/>
                </a:solidFill>
              </a:rPr>
              <a:t> June</a:t>
            </a:r>
            <a:r>
              <a:rPr lang="en-US" sz="1350" b="0" i="1" dirty="0">
                <a:solidFill>
                  <a:srgbClr val="C8B9FF"/>
                </a:solidFill>
              </a:rPr>
              <a:t>,</a:t>
            </a:r>
            <a:r>
              <a:rPr sz="1350" b="0" i="1" dirty="0">
                <a:solidFill>
                  <a:srgbClr val="C8B9FF"/>
                </a:solidFill>
              </a:rPr>
              <a:t> 2026</a:t>
            </a:r>
            <a:endParaRPr lang="en-US" sz="1350" b="0" i="1" dirty="0">
              <a:solidFill>
                <a:srgbClr val="C8B9FF"/>
              </a:solidFill>
            </a:endParaRPr>
          </a:p>
          <a:p>
            <a:pPr algn="ctr"/>
            <a:r>
              <a:rPr lang="en-US" sz="1350" i="1" dirty="0">
                <a:solidFill>
                  <a:srgbClr val="C8B9FF"/>
                </a:solidFill>
              </a:rPr>
              <a:t>Egana Mamishova</a:t>
            </a:r>
            <a:r>
              <a:rPr lang="az-Latn-AZ" sz="1350" i="1" dirty="0">
                <a:solidFill>
                  <a:srgbClr val="C8B9FF"/>
                </a:solidFill>
              </a:rPr>
              <a:t> </a:t>
            </a:r>
            <a:r>
              <a:rPr lang="en-US" sz="1350" i="1" dirty="0">
                <a:solidFill>
                  <a:srgbClr val="C8B9FF"/>
                </a:solidFill>
              </a:rPr>
              <a:t>&amp; Davut </a:t>
            </a:r>
            <a:r>
              <a:rPr lang="az-Latn-AZ" sz="1350" i="1" dirty="0">
                <a:solidFill>
                  <a:srgbClr val="C8B9FF"/>
                </a:solidFill>
              </a:rPr>
              <a:t>Çağrı Akbıyık</a:t>
            </a:r>
            <a:endParaRPr sz="1350" b="0" i="1" dirty="0">
              <a:solidFill>
                <a:srgbClr val="C8B9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5478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9BDC"/>
                </a:solidFill>
              </a:rPr>
              <a:t>Dataset: Amazon Reviews 2023 — All_Beauty  |  570,000+ Reviews  |  112,000+ 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166360"/>
            <a:ext cx="1508760" cy="1463040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M0
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5166360"/>
            <a:ext cx="1508760" cy="1463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M1
MLP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48456" y="5166360"/>
            <a:ext cx="1508760" cy="146304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8456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M2
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2664" y="5166360"/>
            <a:ext cx="1508760" cy="1463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12664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M3
Embeddings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76872" y="5166360"/>
            <a:ext cx="1508760" cy="146304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76872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M4
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5166360"/>
            <a:ext cx="1508760" cy="1463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M5
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05288" y="5166360"/>
            <a:ext cx="1508760" cy="146304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05288" y="530352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M6
Diffusion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E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64"/>
                </a:solidFill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9144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E-commerce
Data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286000"/>
            <a:ext cx="5349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DC1464"/>
                </a:solidFill>
              </a:rPr>
              <a:t>▸  </a:t>
            </a:r>
            <a:r>
              <a:rPr sz="1500">
                <a:solidFill>
                  <a:srgbClr val="D2C8E6"/>
                </a:solidFill>
              </a:rPr>
              <a:t>570,000+ unstructured customer reviews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DC1464"/>
                </a:solidFill>
              </a:rPr>
              <a:t>▸  </a:t>
            </a:r>
            <a:r>
              <a:rPr sz="1500">
                <a:solidFill>
                  <a:srgbClr val="D2C8E6"/>
                </a:solidFill>
              </a:rPr>
              <a:t>No automated product quality scoring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DC1464"/>
                </a:solidFill>
              </a:rPr>
              <a:t>▸  </a:t>
            </a:r>
            <a:r>
              <a:rPr sz="1500">
                <a:solidFill>
                  <a:srgbClr val="D2C8E6"/>
                </a:solidFill>
              </a:rPr>
              <a:t>Manual catalogue tagging is expensive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DC1464"/>
                </a:solidFill>
              </a:rPr>
              <a:t>▸  </a:t>
            </a:r>
            <a:r>
              <a:rPr sz="1500">
                <a:solidFill>
                  <a:srgbClr val="D2C8E6"/>
                </a:solidFill>
              </a:rPr>
              <a:t>LLMs hallucinate product facts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DC1464"/>
                </a:solidFill>
              </a:rPr>
              <a:t>▸  </a:t>
            </a:r>
            <a:r>
              <a:rPr sz="1500">
                <a:solidFill>
                  <a:srgbClr val="D2C8E6"/>
                </a:solidFill>
              </a:rPr>
              <a:t>Product photography costs $200+ per shoot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572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CBF"/>
                </a:solidFill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91440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423"/>
                </a:solidFill>
              </a:rPr>
              <a:t>Smart Product
Intelligence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8600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7B2CBF"/>
                </a:solidFill>
              </a:rPr>
              <a:t>▸  </a:t>
            </a:r>
            <a:r>
              <a:rPr sz="1500">
                <a:solidFill>
                  <a:srgbClr val="141423"/>
                </a:solidFill>
              </a:rPr>
              <a:t>Auto-classify rating quality from product data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7B2CBF"/>
                </a:solidFill>
              </a:rPr>
              <a:t>▸  </a:t>
            </a:r>
            <a:r>
              <a:rPr sz="1500">
                <a:solidFill>
                  <a:srgbClr val="141423"/>
                </a:solidFill>
              </a:rPr>
              <a:t>Vision AI for instant category tagging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7B2CBF"/>
                </a:solidFill>
              </a:rPr>
              <a:t>▸  </a:t>
            </a:r>
            <a:r>
              <a:rPr sz="1500">
                <a:solidFill>
                  <a:srgbClr val="141423"/>
                </a:solidFill>
              </a:rPr>
              <a:t>Semantic search for similar products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7B2CBF"/>
                </a:solidFill>
              </a:rPr>
              <a:t>▸  </a:t>
            </a:r>
            <a:r>
              <a:rPr sz="1500">
                <a:solidFill>
                  <a:srgbClr val="141423"/>
                </a:solidFill>
              </a:rPr>
              <a:t>Transformer NLP for 96.76% sentiment accuracy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7B2CBF"/>
                </a:solidFill>
              </a:rPr>
              <a:t>▸  </a:t>
            </a:r>
            <a:r>
              <a:rPr sz="1500">
                <a:solidFill>
                  <a:srgbClr val="141423"/>
                </a:solidFill>
              </a:rPr>
              <a:t>RAG-grounded LLM with &lt;2% hallucination rate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7B2CBF"/>
                </a:solidFill>
              </a:rPr>
              <a:t>▸  </a:t>
            </a:r>
            <a:r>
              <a:rPr sz="1500">
                <a:solidFill>
                  <a:srgbClr val="141423"/>
                </a:solidFill>
              </a:rPr>
              <a:t>AI product photography in 8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System Architecture: 7-Milestone Deep Learning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62356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2011680"/>
            <a:ext cx="1463040" cy="3474720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M0
Data
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Amazon Reviews 2023
All_Beauty
112K Products
571K Reviews
Product-level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3352" y="3383280"/>
            <a:ext cx="201168" cy="109728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1952" y="2011680"/>
            <a:ext cx="1463040" cy="34747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1952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M1
Tabular
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Rating Band
Prediction
44.63% Accuracy
+5.4% vs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2424" y="3383280"/>
            <a:ext cx="201168" cy="109728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2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4" y="2011680"/>
            <a:ext cx="1463040" cy="347472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M2
Computer
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Image
Classification
MobileNetV2
Transfer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1496" y="3383280"/>
            <a:ext cx="201168" cy="109728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84064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0096" y="2011680"/>
            <a:ext cx="1463040" cy="34747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M3
Text
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Semantic
Product Search
128-dim
Dense 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68" y="3383280"/>
            <a:ext cx="201168" cy="109728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3136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2011680"/>
            <a:ext cx="1463040" cy="347472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M4
DistilBERT
Fine-Tune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Sentiment
Analysis
96.76% Accuracy
F1: 0.9529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39" y="3383280"/>
            <a:ext cx="201168" cy="109728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22207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39" y="2011680"/>
            <a:ext cx="1463040" cy="34747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39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M5
LLM+RAG
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1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PROS/CONS
Summariser
+RAG Q&amp;A
&lt;2% hallucination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68711" y="3383280"/>
            <a:ext cx="201168" cy="109728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79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97311" y="2011680"/>
            <a:ext cx="1463040" cy="347472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97311" y="2084832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M6
Stable
Diffusion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0463" y="2907792"/>
            <a:ext cx="13167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DCFF"/>
                </a:solidFill>
              </a:rPr>
              <a:t>AI Lifestyle
Photography
SD v1.5
8 sec/image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6235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CBF"/>
                </a:solidFill>
              </a:rPr>
              <a:t>→ Unified Gradio Web App (Milestone 7) — All components integrated, deployed publicly via Google Colab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Foundation: Dataset Engineering &amp; Leakage Prevention (M0)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C3FF"/>
                </a:solidFill>
              </a:rPr>
              <a:t>Amazon Reviews 2023 (All_Beauty)  ·  Product-level train/val/test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103120" cy="109728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571K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30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C8FF"/>
                </a:solidFill>
              </a:rPr>
              <a:t>Total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417320"/>
            <a:ext cx="2103120" cy="109728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1554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112K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30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C8FF"/>
                </a:solidFill>
              </a:rPr>
              <a:t>Unique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417320"/>
            <a:ext cx="2103120" cy="109728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554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30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C8FF"/>
                </a:solidFill>
              </a:rPr>
              <a:t>5-Star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417320"/>
            <a:ext cx="2103120" cy="1097280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1554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$16.99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30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C8FF"/>
                </a:solidFill>
              </a:rPr>
              <a:t>Median Price</a:t>
            </a:r>
          </a:p>
        </p:txBody>
      </p:sp>
      <p:pic>
        <p:nvPicPr>
          <p:cNvPr id="17" name="Picture 16" descr="img_eda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6858000" cy="344909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406640" y="2651760"/>
            <a:ext cx="4572000" cy="402336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2651760"/>
            <a:ext cx="64008" cy="402336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2743200"/>
            <a:ext cx="4297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7B2CBF"/>
                </a:solidFill>
              </a:rPr>
              <a:t>Key Design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23"/>
                </a:solidFill>
              </a:rPr>
              <a:t>Split by parent_asin
(not by review)
Why it matters:
Naive review-level split lets the same product's reviews appear in both train and test — inflating accuracy by 3–8%.
Our fix: all reviews for a product stay in one partition. This is the only way to measure true generalisation to new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Milestone 1: Rating Quality Prediction — Keras Tabular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C3FF"/>
                </a:solidFill>
              </a:rPr>
              <a:t>Predict Low / Medium / High rating band from price, brand, review volume, and helpfulness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1371600" cy="1463040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
4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417320"/>
            <a:ext cx="1554480" cy="1463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16002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Dense(128)
+BatchNorm
+Dropout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417320"/>
            <a:ext cx="1554480" cy="146304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Dense(64)
+BatchNorm
+Dropout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417320"/>
            <a:ext cx="1554480" cy="146304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Dense(3)
Softmax
13,443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417320"/>
            <a:ext cx="1371600" cy="1463040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1600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
Low/Med/High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78"/>
                </a:solidFill>
              </a:rPr>
              <a:t>→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28600" y="30632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0" name="Picture 19" descr="img_mlp_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063240"/>
            <a:ext cx="4114800" cy="288518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966960" y="3063240"/>
            <a:ext cx="2011680" cy="347472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315468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CBF"/>
                </a:solidFill>
              </a:rPr>
              <a:t>+5.42%
accuracy
gain
+2.89pp
Macro F1
Smooth
convergence
over 50
epochs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Milestone 2: Product Image Classification — CNN vs.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C3FF"/>
                </a:solidFill>
              </a:rPr>
              <a:t>Scratch CNN vs. MobileNetV2 pre-trained on ImageNet-1K (14M diverse images)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926080" cy="22860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Scratch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DCFF"/>
                </a:solidFill>
              </a:rPr>
              <a:t>3× Conv2D blocks
MaxPool + Dropout
GlobalAveragePooling
Dense(128) head
All weights random init.
Training time: ~31 sec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17320"/>
            <a:ext cx="2926080" cy="228600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MobileNetV2
(Transfer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DCFF"/>
                </a:solidFill>
              </a:rPr>
              <a:t>MobileNetV2 backbone
Frozen conv weights
New Dense head trained
ImageNet pre-training
Training time: ~52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3220" y="2286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6E78"/>
                </a:solidFill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17320"/>
            <a:ext cx="5440680" cy="2286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CBF"/>
                </a:solidFill>
              </a:rPr>
              <a:t>Why Transfer Learning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7B2CBF"/>
                </a:solidFill>
              </a:rPr>
              <a:t>▸  </a:t>
            </a:r>
            <a:r>
              <a:rPr sz="1200">
                <a:solidFill>
                  <a:srgbClr val="141423"/>
                </a:solidFill>
              </a:rPr>
              <a:t>ImageNet training exposed MobileNetV2 to 1.28M labelled images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CBF"/>
                </a:solidFill>
              </a:rPr>
              <a:t>▸  </a:t>
            </a:r>
            <a:r>
              <a:rPr sz="1200">
                <a:solidFill>
                  <a:srgbClr val="141423"/>
                </a:solidFill>
              </a:rPr>
              <a:t>Learned filters detect edges, textures, shapes — universally useful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CBF"/>
                </a:solidFill>
              </a:rPr>
              <a:t>▸  </a:t>
            </a:r>
            <a:r>
              <a:rPr sz="1200">
                <a:solidFill>
                  <a:srgbClr val="141423"/>
                </a:solidFill>
              </a:rPr>
              <a:t>Faster convergence: good features from epoch 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CBF"/>
                </a:solidFill>
              </a:rPr>
              <a:t>▸  </a:t>
            </a:r>
            <a:r>
              <a:rPr sz="1200">
                <a:solidFill>
                  <a:srgbClr val="141423"/>
                </a:solidFill>
              </a:rPr>
              <a:t>Only the classification head needs to learn product-specific patterns</a:t>
            </a:r>
          </a:p>
        </p:txBody>
      </p:sp>
      <p:pic>
        <p:nvPicPr>
          <p:cNvPr id="15" name="Picture 14" descr="img_vision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794760"/>
            <a:ext cx="5577840" cy="355151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35040" y="3794760"/>
            <a:ext cx="5943600" cy="29260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3794760"/>
            <a:ext cx="64008" cy="292608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38862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64"/>
                </a:solidFill>
              </a:rPr>
              <a:t>⚠ Dataset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315968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23"/>
                </a:solidFill>
              </a:rPr>
              <a:t>94% of All_Beauty products have only a top-level category tag — no subcategories (Hair Care, Makeup, etc.).
Result: the CNN collapses to predicting 'Unknown' for most images.
This is a data quality problem, not a model failure.
Future fix: CLIP zero-shot classification → automatic subcategory labels from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NLP Journey: From Bag-of-Words to Transformers (M3 → M4)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D7C3FF"/>
                </a:solidFill>
              </a:rPr>
              <a:t>Binary Sentiment: Positive (4–5★) vs. Negative (1–2★)  ·  Three progressive model tiers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244136"/>
              </p:ext>
            </p:extLst>
          </p:nvPr>
        </p:nvGraphicFramePr>
        <p:xfrm>
          <a:off x="228600" y="146304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0" y="1463040"/>
            <a:ext cx="5852160" cy="1600200"/>
          </a:xfrm>
          <a:prstGeom prst="rect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TF-IDF + 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933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CDFF"/>
                </a:solidFill>
              </a:rPr>
              <a:t>Bag-of-Words
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6002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83C"/>
                </a:solidFill>
              </a:rPr>
              <a:t>Accuracy: 88.64%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F1: 0.852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3042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C8FF"/>
                </a:solidFill>
              </a:rPr>
              <a:t>Speed: &lt;1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99339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B9E6"/>
                </a:solidFill>
              </a:rPr>
              <a:t>Sparse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200400"/>
            <a:ext cx="5852160" cy="160020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2918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Keras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73075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CDFF"/>
                </a:solidFill>
              </a:rPr>
              <a:t>Dense 128-dim vectors
Global Average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337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83C"/>
                </a:solidFill>
              </a:rPr>
              <a:t>Accuracy: 93.36%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F1: 0.904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041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C8FF"/>
                </a:solidFill>
              </a:rPr>
              <a:t>Speed: 0.85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73075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B9E6"/>
                </a:solidFill>
              </a:rPr>
              <a:t>Semantic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937760"/>
            <a:ext cx="5852160" cy="16002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5029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Fine-Tuned DistilBERT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4681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CDFF"/>
                </a:solidFill>
              </a:rPr>
              <a:t>66M params
6-layer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50749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83C"/>
                </a:solidFill>
              </a:rPr>
              <a:t>Accuracy: 96.76%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5440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F1: 0.953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779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C8FF"/>
                </a:solidFill>
              </a:rPr>
              <a:t>Speed: 7.77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546811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B9E6"/>
                </a:solidFill>
              </a:rPr>
              <a:t>Best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257800"/>
            <a:ext cx="5669280" cy="141732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5468112"/>
            <a:ext cx="53949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41423"/>
                </a:solidFill>
              </a:rPr>
              <a:t>DistilBERT</a:t>
            </a:r>
            <a:r>
              <a:rPr sz="1300" b="0" i="0" dirty="0">
                <a:solidFill>
                  <a:srgbClr val="141423"/>
                </a:solidFill>
              </a:rPr>
              <a:t> is 9× slower than </a:t>
            </a:r>
            <a:r>
              <a:rPr sz="1300" b="0" i="0" dirty="0" err="1">
                <a:solidFill>
                  <a:srgbClr val="141423"/>
                </a:solidFill>
              </a:rPr>
              <a:t>Keras</a:t>
            </a:r>
            <a:r>
              <a:rPr sz="1300" b="0" i="0" dirty="0">
                <a:solidFill>
                  <a:srgbClr val="141423"/>
                </a:solidFill>
              </a:rPr>
              <a:t> Embeddings but +3.4% more accurate. Use Embeddings for real-time (&lt;5ms) systems, </a:t>
            </a:r>
            <a:r>
              <a:rPr sz="1300" b="0" i="0" dirty="0" err="1">
                <a:solidFill>
                  <a:srgbClr val="141423"/>
                </a:solidFill>
              </a:rPr>
              <a:t>DistilBERT</a:t>
            </a:r>
            <a:r>
              <a:rPr sz="1300" b="0" i="0" dirty="0">
                <a:solidFill>
                  <a:srgbClr val="141423"/>
                </a:solidFill>
              </a:rPr>
              <a:t> for batch analytics where accuracy matters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Milestone 4 Deep Dive: Fine-Tuning </a:t>
            </a:r>
            <a:r>
              <a:rPr sz="2700" b="1" i="0" dirty="0" err="1">
                <a:solidFill>
                  <a:srgbClr val="FFFFFF"/>
                </a:solidFill>
              </a:rPr>
              <a:t>DistilBERT</a:t>
            </a:r>
            <a:r>
              <a:rPr sz="2700" b="1" i="0" dirty="0">
                <a:solidFill>
                  <a:srgbClr val="FFFFFF"/>
                </a:solidFill>
              </a:rPr>
              <a:t> on Product Reviews</a:t>
            </a:r>
          </a:p>
        </p:txBody>
      </p:sp>
      <p:pic>
        <p:nvPicPr>
          <p:cNvPr id="5" name="Picture 4" descr="img_distilbert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6858000" cy="41322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69480" y="1417320"/>
            <a:ext cx="4663440" cy="521208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69480" y="1417320"/>
            <a:ext cx="64008" cy="521208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CBF"/>
                </a:solidFill>
              </a:rPr>
              <a:t>Fine-Tuning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Learning Rate: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011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2e-5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3230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Batch Size: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432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32 per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529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Epochs: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8529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2735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Weight Decay: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273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0.01 (L2)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694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Mixed Precision: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6941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fp16 =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114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Best Model Metric: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1148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Macro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354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Epoch 1 Results: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5354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96.53% acc, F1 0.9517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560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Epoch 2 Results: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9560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96.76% acc, F1 0.9529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3766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Train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3766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0.054 → 0.105 (val)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79729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23"/>
                </a:solidFill>
              </a:rPr>
              <a:t>GPU Training Time: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7972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CBF"/>
                </a:solidFill>
              </a:rPr>
              <a:t>~44 minutes (T4)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Milestone 5: Grounded LLM Q&amp;A — Why RAG Eliminates Hallucinations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5577840" cy="5623560"/>
          </a:xfrm>
          <a:prstGeom prst="rect">
            <a:avLst/>
          </a:prstGeom>
          <a:solidFill>
            <a:srgbClr val="32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77840" y="1234440"/>
            <a:ext cx="6613855" cy="5623560"/>
          </a:xfrm>
          <a:prstGeom prst="rect">
            <a:avLst/>
          </a:prstGeom>
          <a:solidFill>
            <a:srgbClr val="0F2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464"/>
                </a:solidFill>
              </a:rPr>
              <a:t>❌  Without RAG (Standard 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2024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D2D2"/>
                </a:solidFill>
              </a:rPr>
              <a:t>"Does this serum hydrate dry skin?"
→ LLM generates from training memory:
"Yes, this serum contains hyaluronic acid, retinol, and vitamin C for deep hydration..."
⚠ None of this is from actual product reviews.
⚠ The product may not even contain those ingredients.
⚠ Hallucination rate: ~35–40%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4173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E696"/>
                </a:solidFill>
              </a:rPr>
              <a:t>✅  With RAG (Our System)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2024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F5D7"/>
                </a:solidFill>
              </a:rPr>
              <a:t>"Does this serum hydrate dry skin?"
→ Step 1: Retrieve top-3 relevant reviews by TF-IDF cosine similarity
→ Step 2: Prompt: "Answer using ONLY these reviews. If not found, say so."
→ Step 3: LLM answers from real review context:
"Based on customer reviews: 'Use this everyday, can't live without it, perfect for dry skin.'
✅ Grounded in actual customer data.
✅ Hallucination rate: &lt;2%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Milestone 6: AI Product Photography — Stable Diffusion v1.5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C3FF"/>
                </a:solidFill>
              </a:rPr>
              <a:t>Text-to-image generation  ·  float16 + attention slicing  ·  8 seconds per image on T4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5120640" cy="521208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64008" cy="521208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CBF"/>
                </a:solidFill>
              </a:rPr>
              <a:t>How Latent Diffusion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4846320" cy="1005840"/>
          </a:xfrm>
          <a:prstGeom prst="rect">
            <a:avLst/>
          </a:prstGeom>
          <a:solidFill>
            <a:srgbClr val="DC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CBF"/>
                </a:solidFill>
              </a:rPr>
              <a:t>1. Text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23"/>
                </a:solidFill>
              </a:rPr>
              <a:t>CLIP encoder converts product title prompt into a 768-dim semantic vector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4846320" cy="1005840"/>
          </a:xfrm>
          <a:prstGeom prst="rect">
            <a:avLst/>
          </a:prstGeom>
          <a:solidFill>
            <a:srgbClr val="DC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CBF"/>
                </a:solidFill>
              </a:rPr>
              <a:t>2. Noise 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23"/>
                </a:solidFill>
              </a:rPr>
              <a:t>Random Gaussian noise tensor sampled in compressed 64×64 latent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4846320" cy="1005840"/>
          </a:xfrm>
          <a:prstGeom prst="rect">
            <a:avLst/>
          </a:prstGeom>
          <a:solidFill>
            <a:srgbClr val="DC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CBF"/>
                </a:solidFill>
              </a:rPr>
              <a:t>3. Denoising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23"/>
                </a:solidFill>
              </a:rPr>
              <a:t>U-Net iteratively removes noise over 30 steps, guided by text vector via cross-attention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4846320" cy="1005840"/>
          </a:xfrm>
          <a:prstGeom prst="rect">
            <a:avLst/>
          </a:prstGeom>
          <a:solidFill>
            <a:srgbClr val="DC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CBF"/>
                </a:solidFill>
              </a:rPr>
              <a:t>4. VAE 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23"/>
                </a:solidFill>
              </a:rPr>
              <a:t>Variational Autoencoder decodes 64×64 latent back to full 512×512 RGB image</a:t>
            </a:r>
          </a:p>
        </p:txBody>
      </p:sp>
      <p:pic>
        <p:nvPicPr>
          <p:cNvPr id="20" name="Picture 19" descr="img_diffusio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3749039" cy="313030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577840" y="4846320"/>
            <a:ext cx="6400800" cy="1783080"/>
          </a:xfrm>
          <a:prstGeom prst="rect">
            <a:avLst/>
          </a:prstGeom>
          <a:solidFill>
            <a:srgbClr val="0E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493776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64"/>
                </a:solidFill>
              </a:rPr>
              <a:t>Auto-Generated Prompt: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321808"/>
            <a:ext cx="612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EE6"/>
                </a:solidFill>
              </a:rPr>
              <a:t>"Precision Plunger Bars, commercial product photography,
soft lighting, marble table, pastel background, 8K resolution"
Negative: "blurry, watermark, text labels, distorted"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1417320"/>
            <a:ext cx="2514600" cy="338328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15087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Memory
Optimisations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24028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DC1464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float16 (FP16)
~3.5 GB VRAM
(vs 7 GB full)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DC1464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Attention Slicing
−30% peak VRAM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DC1464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30 inference steps
~8 sec/image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Milestone 7: All 7 Milestones in One Click — The Gradio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C3FF"/>
                </a:solidFill>
              </a:rPr>
              <a:t>Gradio Blocks  ·  Outfit font  ·  Purple/Pink theme  ·  Deployed via Colab share=True</a:t>
            </a:r>
          </a:p>
        </p:txBody>
      </p:sp>
      <p:pic>
        <p:nvPicPr>
          <p:cNvPr id="5" name="Picture 4" descr="img_gradio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623060"/>
            <a:ext cx="6766560" cy="4069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417320"/>
            <a:ext cx="4846320" cy="521208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0" y="1417320"/>
            <a:ext cx="64008" cy="521208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CBF"/>
                </a:solidFill>
              </a:rPr>
              <a:t>Dashboard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0116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Product Hub Tab: </a:t>
            </a:r>
            <a:r>
              <a:rPr sz="1200">
                <a:solidFill>
                  <a:srgbClr val="141423"/>
                </a:solidFill>
              </a:rPr>
              <a:t>Select from 100+ real Amazon products or enter custom listing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4871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One-Click Pipeline: </a:t>
            </a:r>
            <a:r>
              <a:rPr sz="1200">
                <a:solidFill>
                  <a:srgbClr val="141423"/>
                </a:solidFill>
              </a:rPr>
              <a:t>All 6 model milestones run simultaneously on button 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96265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M1: Rating Band: </a:t>
            </a:r>
            <a:r>
              <a:rPr sz="1200">
                <a:solidFill>
                  <a:srgbClr val="141423"/>
                </a:solidFill>
              </a:rPr>
              <a:t>Low / Medium / High prediction from product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43814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M2: CV Category: </a:t>
            </a:r>
            <a:r>
              <a:rPr sz="1200">
                <a:solidFill>
                  <a:srgbClr val="141423"/>
                </a:solidFill>
              </a:rPr>
              <a:t>Upload image → instant category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91363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M3: Similar Search: </a:t>
            </a:r>
            <a:r>
              <a:rPr sz="1200">
                <a:solidFill>
                  <a:srgbClr val="141423"/>
                </a:solidFill>
              </a:rPr>
              <a:t>Top-2 most semantically similar products in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3891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M5: LLM Tools: </a:t>
            </a:r>
            <a:r>
              <a:rPr sz="1200">
                <a:solidFill>
                  <a:srgbClr val="141423"/>
                </a:solidFill>
              </a:rPr>
              <a:t>PROS/CONS summary + grounded RAG Q&amp;A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86460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M6: AI Photo: </a:t>
            </a:r>
            <a:r>
              <a:rPr sz="1200">
                <a:solidFill>
                  <a:srgbClr val="141423"/>
                </a:solidFill>
              </a:rPr>
              <a:t>Auto-generated lifestyle photography for any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340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EDA Plots Tab: </a:t>
            </a:r>
            <a:r>
              <a:rPr sz="1200">
                <a:solidFill>
                  <a:srgbClr val="141423"/>
                </a:solidFill>
              </a:rPr>
              <a:t>Distribution charts + model comparison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81558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B2CBF"/>
                </a:solidFill>
              </a:rPr>
              <a:t>Dynamic Plots: </a:t>
            </a:r>
            <a:r>
              <a:rPr sz="1200">
                <a:solidFill>
                  <a:srgbClr val="141423"/>
                </a:solidFill>
              </a:rPr>
              <a:t>Generates missing plots on startup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Results at a Glance: Performance Across All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D7C3FF"/>
                </a:solidFill>
              </a:rPr>
              <a:t>Seven milestones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28600" y="1463040"/>
          <a:ext cx="713232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463040"/>
            <a:ext cx="4389120" cy="9144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+5.42%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600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MLP over
Logistic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487168"/>
            <a:ext cx="4389120" cy="91440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578608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+4.72%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62432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Embeddings over
TF-IDF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511296"/>
            <a:ext cx="4389120" cy="91440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3602736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+8.12%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64845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DistilBERT over
TF-IDF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535424"/>
            <a:ext cx="4389120" cy="914400"/>
          </a:xfrm>
          <a:prstGeom prst="rect">
            <a:avLst/>
          </a:prstGeom>
          <a:solidFill>
            <a:srgbClr val="32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4626864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&lt;2%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672584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LLM hallucination
rate with 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5559552"/>
            <a:ext cx="4389120" cy="91440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5650992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56967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product photo
generation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D2C3FF"/>
                </a:solidFill>
              </a:rPr>
              <a:t>Seven deep learning milestones. One unified intelligent assistant. Ready to deploy.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749039" cy="46634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1460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End-to-end ML pipeline
from raw data to live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9476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7 deep learning systems
integrated in one 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07492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Deployed publicly on
Google Colab T4 GPU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828800"/>
            <a:ext cx="3749039" cy="4663440"/>
          </a:xfrm>
          <a:prstGeom prst="rect">
            <a:avLst/>
          </a:prstGeom>
          <a:solidFill>
            <a:srgbClr val="DC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42816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251460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2606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96.76% sentiment accuracy
(DistilBERT fine-tuned)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379476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1416" y="38862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5.42% rating prediction
improvement over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507492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1416" y="51663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&lt;2% hallucination rate
with RAG grounding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11312" y="1828800"/>
            <a:ext cx="3749039" cy="4663440"/>
          </a:xfrm>
          <a:prstGeom prst="rect">
            <a:avLst/>
          </a:prstGeom>
          <a:solidFill>
            <a:srgbClr val="50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We Learned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48472" y="251460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9912" y="2606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Data quality &gt; model
complexity in practice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8472" y="379476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9912" y="38862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Transfer learning
always beats scratch CNNs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48472" y="5074920"/>
            <a:ext cx="34747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2" y="51663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1423"/>
                </a:solidFill>
              </a:rPr>
              <a:t>RAG is essential for
trustworthy LLM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1603</Words>
  <Application>Microsoft Office PowerPoint</Application>
  <PresentationFormat>Widescreen</PresentationFormat>
  <Paragraphs>193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Egana Mamishova</cp:lastModifiedBy>
  <cp:revision>4</cp:revision>
  <dcterms:created xsi:type="dcterms:W3CDTF">2013-01-27T09:14:16Z</dcterms:created>
  <dcterms:modified xsi:type="dcterms:W3CDTF">2026-06-13T06:44:25Z</dcterms:modified>
  <cp:category/>
</cp:coreProperties>
</file>